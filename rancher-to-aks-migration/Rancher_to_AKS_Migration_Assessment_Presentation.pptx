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5"/>
    <p:restoredTop sz="96186"/>
  </p:normalViewPr>
  <p:slideViewPr>
    <p:cSldViewPr snapToGrid="0" snapToObjects="1">
      <p:cViewPr varScale="1">
        <p:scale>
          <a:sx n="147" d="100"/>
          <a:sy n="147" d="100"/>
        </p:scale>
        <p:origin x="216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1645920"/>
            <a:ext cx="10820095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Rancher to Managed AKS Migration Assessment</a:t>
            </a:r>
          </a:p>
          <a:p>
            <a:pPr>
              <a:spcBef>
                <a:spcPts val="1400"/>
              </a:spcBef>
              <a:defRPr sz="2200">
                <a:solidFill>
                  <a:srgbClr val="38BDF8"/>
                </a:solidFill>
                <a:latin typeface="Arial"/>
              </a:defRPr>
            </a:pPr>
            <a:r>
              <a:t>Production Replatforming &amp; Security Hardening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Presenter: Satappa Shiragave (Senior DevOps/Platform Engineer)</a:t>
            </a:r>
          </a:p>
          <a:p>
            <a:pPr>
              <a:spcBef>
                <a:spcPts val="6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Target Platform: Azure Kubernetes Service (AKS) via Azure CNI / Cilium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Source Environment &amp; Workload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Baseline Architecture</a:t>
            </a:r>
          </a:p>
          <a:p>
            <a:pPr>
              <a:spcAft>
                <a:spcPts val="1000"/>
              </a:spcAft>
              <a:defRPr sz="1400"/>
            </a:pPr>
            <a:r>
              <a:rPr b="1">
                <a:solidFill>
                  <a:srgbClr val="F8FAFC"/>
                </a:solidFill>
              </a:rPr>
              <a:t>• Orchestration:</a:t>
            </a:r>
            <a:r>
              <a:rPr>
                <a:solidFill>
                  <a:srgbClr val="94A3B8"/>
                </a:solidFill>
              </a:rPr>
              <a:t> On-prem Rancher-managed RKE2 cluster simulated locally via k3d environment.</a:t>
            </a:r>
          </a:p>
          <a:p>
            <a:pPr>
              <a:spcAft>
                <a:spcPts val="1000"/>
              </a:spcAft>
              <a:defRPr sz="1400"/>
            </a:pPr>
            <a:r>
              <a:rPr b="1">
                <a:solidFill>
                  <a:srgbClr val="F8FAFC"/>
                </a:solidFill>
              </a:rPr>
              <a:t>• Core Application:</a:t>
            </a:r>
            <a:r>
              <a:rPr>
                <a:solidFill>
                  <a:srgbClr val="94A3B8"/>
                </a:solidFill>
              </a:rPr>
              <a:t> Java/Spring Boot monolith running upstream spring-petclinic workloads.</a:t>
            </a:r>
          </a:p>
          <a:p>
            <a:pPr>
              <a:spcAft>
                <a:spcPts val="1000"/>
              </a:spcAft>
              <a:defRPr sz="1400"/>
            </a:pPr>
            <a:r>
              <a:rPr b="1">
                <a:solidFill>
                  <a:srgbClr val="F8FAFC"/>
                </a:solidFill>
              </a:rPr>
              <a:t>• Stateful Layer:</a:t>
            </a:r>
            <a:r>
              <a:rPr>
                <a:solidFill>
                  <a:srgbClr val="94A3B8"/>
                </a:solidFill>
              </a:rPr>
              <a:t> Standalone MySQL backend database container inside petclinic namespace.</a:t>
            </a:r>
          </a:p>
          <a:p>
            <a:pPr>
              <a:spcAft>
                <a:spcPts val="1000"/>
              </a:spcAft>
              <a:defRPr sz="1400"/>
            </a:pPr>
            <a:r>
              <a:rPr b="1">
                <a:solidFill>
                  <a:srgbClr val="F8FAFC"/>
                </a:solidFill>
              </a:rPr>
              <a:t>• Storage Binding:</a:t>
            </a:r>
            <a:r>
              <a:rPr>
                <a:solidFill>
                  <a:srgbClr val="94A3B8"/>
                </a:solidFill>
              </a:rPr>
              <a:t> Non-portable hostPath Persistent Volume Claims linked directly to local compute paths.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5007429" cy="3988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rPr sz="1050" dirty="0"/>
              <a:t>Traffic Ingress Structure</a:t>
            </a:r>
          </a:p>
          <a:p>
            <a:pPr algn="ctr">
              <a:spcAft>
                <a:spcPts val="1400"/>
              </a:spcAft>
            </a:pPr>
            <a:r>
              <a:rPr sz="1050" dirty="0">
                <a:solidFill>
                  <a:srgbClr val="22C55E"/>
                </a:solidFill>
                <a:latin typeface="Consolas"/>
              </a:rPr>
              <a:t>[Perimeter Traffic]
   ↓
[</a:t>
            </a:r>
            <a:r>
              <a:rPr sz="1050" dirty="0" err="1">
                <a:solidFill>
                  <a:srgbClr val="22C55E"/>
                </a:solidFill>
                <a:latin typeface="Consolas"/>
              </a:rPr>
              <a:t>HAProxy</a:t>
            </a:r>
            <a:r>
              <a:rPr sz="1050" dirty="0">
                <a:solidFill>
                  <a:srgbClr val="22C55E"/>
                </a:solidFill>
                <a:latin typeface="Consolas"/>
              </a:rPr>
              <a:t> Ingress (Edge Gateway)]
   ↓
[NGINX Ingress Controller (L7)]
   ↓
[</a:t>
            </a:r>
            <a:r>
              <a:rPr sz="1050" dirty="0" err="1">
                <a:solidFill>
                  <a:srgbClr val="22C55E"/>
                </a:solidFill>
                <a:latin typeface="Consolas"/>
              </a:rPr>
              <a:t>PetClinic</a:t>
            </a:r>
            <a:r>
              <a:rPr sz="1050" dirty="0">
                <a:solidFill>
                  <a:srgbClr val="22C55E"/>
                </a:solidFill>
                <a:latin typeface="Consolas"/>
              </a:rPr>
              <a:t> Application Pods (8080)]
   ↓
[MySQL Database </a:t>
            </a:r>
            <a:r>
              <a:rPr sz="1050" dirty="0" err="1">
                <a:solidFill>
                  <a:srgbClr val="22C55E"/>
                </a:solidFill>
                <a:latin typeface="Consolas"/>
              </a:rPr>
              <a:t>StatefulSet</a:t>
            </a:r>
            <a:r>
              <a:rPr sz="1050" dirty="0">
                <a:solidFill>
                  <a:srgbClr val="22C55E"/>
                </a:solidFill>
                <a:latin typeface="Consolas"/>
              </a:rPr>
              <a:t> (3306)]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rPr sz="1050" dirty="0"/>
              <a:t>Perimeter traffic is fronted by </a:t>
            </a:r>
            <a:r>
              <a:rPr sz="1050" dirty="0" err="1"/>
              <a:t>HAProxy</a:t>
            </a:r>
            <a:r>
              <a:rPr sz="1050" dirty="0"/>
              <a:t> and processed through dual Ingress topologies, establishing complex maintenance and single-point-of-failure risks at the local database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Repository Layout &amp; Container Hardening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62248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29050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Engineering Isolation</a:t>
            </a:r>
          </a:p>
          <a:p>
            <a:pPr>
              <a:spcAft>
                <a:spcPts val="8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Upstream Separation:</a:t>
            </a:r>
            <a:r>
              <a:rPr>
                <a:solidFill>
                  <a:srgbClr val="94A3B8"/>
                </a:solidFill>
              </a:rPr>
              <a:t> Forked the main spring-petclinic branch to guarantee absolute workspace boundaries.</a:t>
            </a:r>
          </a:p>
          <a:p>
            <a:pPr>
              <a:spcAft>
                <a:spcPts val="8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Directory Boundaries:</a:t>
            </a:r>
            <a:r>
              <a:rPr>
                <a:solidFill>
                  <a:srgbClr val="94A3B8"/>
                </a:solidFill>
              </a:rPr>
              <a:t> Centralized all infrastructure configurations inside isolated /migration-assessment folder systems.</a:t>
            </a:r>
          </a:p>
          <a:p>
            <a:pPr>
              <a:spcAft>
                <a:spcPts val="8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Declarative State:</a:t>
            </a:r>
            <a:r>
              <a:rPr>
                <a:solidFill>
                  <a:srgbClr val="94A3B8"/>
                </a:solidFill>
              </a:rPr>
              <a:t> Isolated code arrays for pure Terraform scripts, Helm templates, and pipeline definitions.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3808" y="1645920"/>
            <a:ext cx="3362248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42408" y="1874520"/>
            <a:ext cx="29050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Multi-Stage Optimization</a:t>
            </a:r>
          </a:p>
          <a:p>
            <a:pPr>
              <a:spcAft>
                <a:spcPts val="8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Decoupled Pipelines:</a:t>
            </a:r>
            <a:r>
              <a:rPr>
                <a:solidFill>
                  <a:srgbClr val="94A3B8"/>
                </a:solidFill>
              </a:rPr>
              <a:t> Stage 1 executes heavy project compilations inside complete eclipse-temurin JDK instances.</a:t>
            </a:r>
          </a:p>
          <a:p>
            <a:pPr>
              <a:spcAft>
                <a:spcPts val="8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Runtime Stripping:</a:t>
            </a:r>
            <a:r>
              <a:rPr>
                <a:solidFill>
                  <a:srgbClr val="94A3B8"/>
                </a:solidFill>
              </a:rPr>
              <a:t> Stage 2 mirrors absolute minimal runtime footprints using hardened JRE Alpine binaries.</a:t>
            </a:r>
          </a:p>
          <a:p>
            <a:pPr>
              <a:spcAft>
                <a:spcPts val="8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Footprint Reductions:</a:t>
            </a:r>
            <a:r>
              <a:rPr>
                <a:solidFill>
                  <a:srgbClr val="94A3B8"/>
                </a:solidFill>
              </a:rPr>
              <a:t> Removed native compilers, diagnostic tooling, and shells to slash container size by ~60%.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41816" y="1645920"/>
            <a:ext cx="3362248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70416" y="1874520"/>
            <a:ext cx="29050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38BDF8"/>
                </a:solidFill>
              </a:defRPr>
            </a:pPr>
            <a:r>
              <a:t>Security Hardening Gates</a:t>
            </a:r>
          </a:p>
          <a:p>
            <a:pPr>
              <a:spcAft>
                <a:spcPts val="8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Non-Root Access:</a:t>
            </a:r>
            <a:r>
              <a:rPr>
                <a:solidFill>
                  <a:srgbClr val="94A3B8"/>
                </a:solidFill>
              </a:rPr>
              <a:t> Application process runs strictly beneath appuser privileges matching clear UID/GID 1000 configurations.</a:t>
            </a:r>
          </a:p>
          <a:p>
            <a:pPr>
              <a:spcAft>
                <a:spcPts val="8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Attack Minimization:</a:t>
            </a:r>
            <a:r>
              <a:rPr>
                <a:solidFill>
                  <a:srgbClr val="94A3B8"/>
                </a:solidFill>
              </a:rPr>
              <a:t> Purged standard networking layers like curl/wget to shut down native breakout vectors.</a:t>
            </a:r>
          </a:p>
          <a:p>
            <a:pPr>
              <a:spcAft>
                <a:spcPts val="8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Health Hooks:</a:t>
            </a:r>
            <a:r>
              <a:rPr>
                <a:solidFill>
                  <a:srgbClr val="94A3B8"/>
                </a:solidFill>
              </a:rPr>
              <a:t> Configured robust live and readiness loops natively linking cluster states to Spring Boot Actuators.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Target Landing Zone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Core Infrastructure Design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Terraform Declarations:</a:t>
            </a:r>
            <a:r>
              <a:rPr>
                <a:solidFill>
                  <a:srgbClr val="94A3B8"/>
                </a:solidFill>
              </a:rPr>
              <a:t> The entire target environment infrastructure is fully declared and automated using Terraform IaC blueprints.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Managed Platform Execution:</a:t>
            </a:r>
            <a:r>
              <a:rPr>
                <a:solidFill>
                  <a:srgbClr val="94A3B8"/>
                </a:solidFill>
              </a:rPr>
              <a:t> Moving workload footprints onto AKS Standard SKU (v1.28) backed by formal enterprise-level Microsoft SLAs.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Network Isolation Profile:</a:t>
            </a:r>
            <a:r>
              <a:rPr>
                <a:solidFill>
                  <a:srgbClr val="94A3B8"/>
                </a:solidFill>
              </a:rPr>
              <a:t> Implemented strict Private Cluster Topology; the control plane API remains completely unreachable from the public internet.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High Availability Compute:</a:t>
            </a:r>
            <a:r>
              <a:rPr>
                <a:solidFill>
                  <a:srgbClr val="94A3B8"/>
                </a:solidFill>
              </a:rPr>
              <a:t> Workload workers are distributed across 3 distinct Availability Zones featuring high-performance Ephemeral OS disks.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645920"/>
            <a:ext cx="5516575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920240"/>
          <a:ext cx="515081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Subsystem Component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Target Landing Zone State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Networking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Azure CNI Overlay + Cilium eBPF; fast, kernel-level native packet transport bypassing iptables bottlenecks.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Outbound SNAT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Azure NAT Gateway bound to cluster subnets for immutable, deterministic egress public IPs.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Secret Management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Azure Key Vault + CSI Secret Store; sensitive values injected into transient RAM memory storage structures.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Private Registry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Premium Geo-Replicated ACR; secure pod pulls managed seamlessly via native Kubelet Managed Identities.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Ingress Management &amp; DNS Cutover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Traffic Ingress Design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Primary Cluster Routing:</a:t>
            </a:r>
            <a:r>
              <a:rPr>
                <a:solidFill>
                  <a:srgbClr val="94A3B8"/>
                </a:solidFill>
              </a:rPr>
              <a:t> Managed NGINX Ingress Controller acts as the internal driver executing path routing and backend map proxies.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Edge Coexistence Pattern:</a:t>
            </a:r>
            <a:r>
              <a:rPr>
                <a:solidFill>
                  <a:srgbClr val="94A3B8"/>
                </a:solidFill>
              </a:rPr>
              <a:t> Retaining HAProxy appliances at the perimeter edge gateway for specialized legacy TCP-level routing and ACL matching.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Rate Limit Protection:</a:t>
            </a:r>
            <a:r>
              <a:rPr>
                <a:solidFill>
                  <a:srgbClr val="94A3B8"/>
                </a:solidFill>
              </a:rPr>
              <a:t> Applied custom annotations directly restricting application entrypoints to safe ceilings (100 req/sec max).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Automated Certificate Cycles:</a:t>
            </a:r>
            <a:r>
              <a:rPr>
                <a:solidFill>
                  <a:srgbClr val="94A3B8"/>
                </a:solidFill>
              </a:rPr>
              <a:t> Full transport encryption managed autonomously via cert-manager pointing to Let's Encrypt production APIs.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3855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Controlled Blue/Green DNS Cutover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Phase 1: TTL Mitigation (T-48h)
</a:t>
            </a:r>
            <a:r>
              <a:rPr>
                <a:solidFill>
                  <a:srgbClr val="94A3B8"/>
                </a:solidFill>
              </a:rPr>
              <a:t>Lower global DNS TTL values down to 60 seconds across primary zone records to prepare for swift traffic redirection.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Phase 2: Target Verification
</a:t>
            </a:r>
            <a:r>
              <a:rPr>
                <a:solidFill>
                  <a:srgbClr val="94A3B8"/>
                </a:solidFill>
              </a:rPr>
              <a:t>Deploy production manifests on target AKS. Execute host-header validations using direct internal cluster IP endpoints.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Phase 3: Core Record Redirection
</a:t>
            </a:r>
            <a:r>
              <a:rPr>
                <a:solidFill>
                  <a:srgbClr val="94A3B8"/>
                </a:solidFill>
              </a:rPr>
              <a:t>Modify central DNS A-Records to transition away from on-prem perimeters over to the Azure Load Balancer public IP layout.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Phase 4: Multi-Route Telemetry
</a:t>
            </a:r>
            <a:r>
              <a:rPr>
                <a:solidFill>
                  <a:srgbClr val="94A3B8"/>
                </a:solidFill>
              </a:rPr>
              <a:t>Monitor cross-routing structures during a 30-minute verification loop. Safely decommission legacy source networks post-propagation.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Zero-Trust Security via Cilium Policies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Policy Hardening Strategy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Default Deny Baseline:</a:t>
            </a:r>
            <a:r>
              <a:rPr>
                <a:solidFill>
                  <a:srgbClr val="94A3B8"/>
                </a:solidFill>
              </a:rPr>
              <a:t> Applied strict, zero-trust network boundaries across the petclinic namespace, blocking all implicit ingress/egress blocks.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Granular Ingress Paths:</a:t>
            </a:r>
            <a:r>
              <a:rPr>
                <a:solidFill>
                  <a:srgbClr val="94A3B8"/>
                </a:solidFill>
              </a:rPr>
              <a:t> Explicitly whitelisted connection maps originating solely from verified NGINX ingress router controllers.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Layer 7 FQDN Guardrails:</a:t>
            </a:r>
            <a:r>
              <a:rPr>
                <a:solidFill>
                  <a:srgbClr val="94A3B8"/>
                </a:solidFill>
              </a:rPr>
              <a:t> Utilized CiliumNetworkPolicy engines to lock down outbound traffic to specific verified domains instead of fragile IP arrays.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Predictable SNAT Topologies:</a:t>
            </a:r>
            <a:r>
              <a:rPr>
                <a:solidFill>
                  <a:srgbClr val="94A3B8"/>
                </a:solidFill>
              </a:rPr>
              <a:t> Associated node pools with a dedicated Azure NAT Gateway to broadcast an absolute single, unchanging public egress 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3855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Egress Traffic Mapping Blueprint</a:t>
            </a:r>
          </a:p>
          <a:p>
            <a:pPr algn="ctr">
              <a:spcAft>
                <a:spcPts val="1400"/>
              </a:spcAft>
            </a:pPr>
            <a:r>
              <a:rPr sz="1300">
                <a:solidFill>
                  <a:srgbClr val="22C55E"/>
                </a:solidFill>
                <a:latin typeface="Consolas"/>
              </a:rPr>
              <a:t>[PetClinic Application Pods]
  ├── (Allowed: UDP 53)  ──&gt; [CoreDNS Engine]
  ├── (Allowed: TCP 3306) ──&gt; [Azure MySQL FQDN]
  ├── (Allowed: TCP 443)  ──&gt; [api.partner.example.com]
  └── (ANY OTHER EGRESS) ──&gt; [eBPF Kernel Drop Alert]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Unapproved outbound connection requests are dropped instantaneously within the Linux kernel space using Cilium's native eBPF engine, entirely avoiding structural iptables resource exhaustion.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Runtime Threat Enforcement with Tetragon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Kernel-Level System Visibility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eBPF Kprobe Interception:</a:t>
            </a:r>
            <a:r>
              <a:rPr>
                <a:solidFill>
                  <a:srgbClr val="94A3B8"/>
                </a:solidFill>
              </a:rPr>
              <a:t> Extracted continuous, live runtime signal architectures directly via out-of-band Linux kernel tracking hook engines.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System Call Monitoring:</a:t>
            </a:r>
            <a:r>
              <a:rPr>
                <a:solidFill>
                  <a:srgbClr val="94A3B8"/>
                </a:solidFill>
              </a:rPr>
              <a:t> Deployed continuous cluster TracingPolicies explicitly tracking system-critical execution arrays like sys_execve and sys_connect.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Zero Profile Overhead:</a:t>
            </a:r>
            <a:r>
              <a:rPr>
                <a:solidFill>
                  <a:srgbClr val="94A3B8"/>
                </a:solidFill>
              </a:rPr>
              <a:t> Operates entirely independent of application runtimes, completely bypassing legacy container sidecar models.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Telemetry Aggregation:</a:t>
            </a:r>
            <a:r>
              <a:rPr>
                <a:solidFill>
                  <a:srgbClr val="94A3B8"/>
                </a:solidFill>
              </a:rPr>
              <a:t> Continuous telemetry data maps stream cleanly into centralized Azure Monitor instances for automated log logic matching.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3855" y="1828800"/>
            <a:ext cx="4663440" cy="3988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rPr sz="1050" dirty="0"/>
              <a:t>Active Threat Response Flow</a:t>
            </a:r>
          </a:p>
          <a:p>
            <a:pPr algn="ctr">
              <a:spcAft>
                <a:spcPts val="1400"/>
              </a:spcAft>
            </a:pPr>
            <a:r>
              <a:rPr sz="1050" dirty="0">
                <a:solidFill>
                  <a:srgbClr val="22C55E"/>
                </a:solidFill>
                <a:latin typeface="Consolas"/>
              </a:rPr>
              <a:t>[Application Vulnerability Exploitation]
   ↓
[Intruder Spawns: /bin/</a:t>
            </a:r>
            <a:r>
              <a:rPr sz="1050" dirty="0" err="1">
                <a:solidFill>
                  <a:srgbClr val="22C55E"/>
                </a:solidFill>
                <a:latin typeface="Consolas"/>
              </a:rPr>
              <a:t>sh</a:t>
            </a:r>
            <a:r>
              <a:rPr sz="1050" dirty="0">
                <a:solidFill>
                  <a:srgbClr val="22C55E"/>
                </a:solidFill>
                <a:latin typeface="Consolas"/>
              </a:rPr>
              <a:t> -c 'Malicious Payload']
   ↓
[Tetragon Intercepts Kernel Call: </a:t>
            </a:r>
            <a:r>
              <a:rPr sz="1050" dirty="0" err="1">
                <a:solidFill>
                  <a:srgbClr val="22C55E"/>
                </a:solidFill>
                <a:latin typeface="Consolas"/>
              </a:rPr>
              <a:t>sys_execve</a:t>
            </a:r>
            <a:r>
              <a:rPr sz="1050" dirty="0">
                <a:solidFill>
                  <a:srgbClr val="22C55E"/>
                </a:solidFill>
                <a:latin typeface="Consolas"/>
              </a:rPr>
              <a:t>]
   ↓
[Instant Automated Action: Injected SIGKILL]
   ↓
[Process Terminated Natively + PagerDuty Alert Generated]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rPr sz="1050" dirty="0"/>
              <a:t>Active runtime enforcement safeguards workloads during the critical 72-hour </a:t>
            </a:r>
            <a:r>
              <a:rPr sz="1050" dirty="0" err="1"/>
              <a:t>hypercare</a:t>
            </a:r>
            <a:r>
              <a:rPr sz="1050" dirty="0"/>
              <a:t> window. Any unexpected bash executions trigger instant process termination.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Secure CI/CD Engineering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Pipeline Engineering Principles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Zero Secret Identity Architecture:</a:t>
            </a:r>
            <a:r>
              <a:rPr>
                <a:solidFill>
                  <a:srgbClr val="94A3B8"/>
                </a:solidFill>
              </a:rPr>
              <a:t> Authenticating pipelines via GitHub OIDC federation patterns, completely eliminating static token risk profiles.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Vulnerability Quality Gates:</a:t>
            </a:r>
            <a:r>
              <a:rPr>
                <a:solidFill>
                  <a:srgbClr val="94A3B8"/>
                </a:solidFill>
              </a:rPr>
              <a:t> Integrated Aqua Trivy checks with explicit non-zero exit commands to block image pushes on High/Critical CVE flags.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Automated Deployment Stability:</a:t>
            </a:r>
            <a:r>
              <a:rPr>
                <a:solidFill>
                  <a:srgbClr val="94A3B8"/>
                </a:solidFill>
              </a:rPr>
              <a:t> Applied explicit --atomic and --wait parameters to Helm releases to protect target live states from cluster drift.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Self-Hosted Runner Networks:</a:t>
            </a:r>
            <a:r>
              <a:rPr>
                <a:solidFill>
                  <a:srgbClr val="94A3B8"/>
                </a:solidFill>
              </a:rPr>
              <a:t> Deployed runner endpoints directly behind private cluster VNet subnets to reach isolated API endpoints securely.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3855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 b="1">
                <a:solidFill>
                  <a:srgbClr val="38BDF8"/>
                </a:solidFill>
              </a:defRPr>
            </a:pPr>
            <a:r>
              <a:rPr sz="1100" dirty="0"/>
              <a:t>End-to-End Automation Sequence</a:t>
            </a:r>
          </a:p>
          <a:p>
            <a:pPr algn="ctr">
              <a:spcAft>
                <a:spcPts val="1400"/>
              </a:spcAft>
            </a:pPr>
            <a:r>
              <a:rPr sz="1100" dirty="0">
                <a:solidFill>
                  <a:srgbClr val="22C55E"/>
                </a:solidFill>
                <a:latin typeface="Consolas"/>
              </a:rPr>
              <a:t>[Developer Git Commit / Pull Request]
   ↓
[Multi-Stage Docker </a:t>
            </a:r>
            <a:r>
              <a:rPr sz="1100" dirty="0" err="1">
                <a:solidFill>
                  <a:srgbClr val="22C55E"/>
                </a:solidFill>
                <a:latin typeface="Consolas"/>
              </a:rPr>
              <a:t>Buildx</a:t>
            </a:r>
            <a:r>
              <a:rPr sz="1100" dirty="0">
                <a:solidFill>
                  <a:srgbClr val="22C55E"/>
                </a:solidFill>
                <a:latin typeface="Consolas"/>
              </a:rPr>
              <a:t> Compilation]
   ↓
[</a:t>
            </a:r>
            <a:r>
              <a:rPr sz="1100" dirty="0" err="1">
                <a:solidFill>
                  <a:srgbClr val="22C55E"/>
                </a:solidFill>
                <a:latin typeface="Consolas"/>
              </a:rPr>
              <a:t>Trivy</a:t>
            </a:r>
            <a:r>
              <a:rPr sz="1100" dirty="0">
                <a:solidFill>
                  <a:srgbClr val="22C55E"/>
                </a:solidFill>
                <a:latin typeface="Consolas"/>
              </a:rPr>
              <a:t> Security Vulnerability Scan Gate]
   ↓
[Secure Remote ACR Container Image Push]
   ↓
[Helm Atomic Upgrade to AKS Target Clusters]
   ↓
[Automated Actuator Health Test Validation]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Migration Runbook &amp; Hypercare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920240"/>
          <a:ext cx="10362895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System Component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Source Reality (Rancher)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Target Managed State (AKS)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Migration Strategy Pattern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MySQL Database Tier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StatefulSet + Local hostPath Volume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Azure DB for MySQL Flexible Server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C55E"/>
                          </a:solidFill>
                        </a:defRPr>
                      </a:pPr>
                      <a:r>
                        <a:t>REPLATFORM (Managed Layer)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Application Deployment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2 Pod Replicas over Static Pod Specs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3 Pod Replicas + CPU/Mem HPA Policies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C55E"/>
                          </a:solidFill>
                        </a:defRPr>
                      </a:pPr>
                      <a:r>
                        <a:t>REPLATFORM (Auto-scale Overlay)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Secret Storage Configurations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Plaintext Base64 K8s Secret Entities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Azure Key Vault + Secret Provider CSI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C55E"/>
                          </a:solidFill>
                        </a:defRPr>
                      </a:pPr>
                      <a:r>
                        <a:t>REFACCTOR (Externalized Vaults)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Edge Traffic Entrypoints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Standalone Perimeter HAProxy Pods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Azure Load Balancer + NGINX App Route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2C55E"/>
                          </a:solidFill>
                        </a:defRPr>
                      </a:pPr>
                      <a:r>
                        <a:t>CONSOLIDATE (Cloud Native Addons)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Risks, Trade-offs, &amp; Technical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Primary Production Risks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Data Sync Latency Lag:</a:t>
            </a:r>
            <a:r>
              <a:rPr>
                <a:solidFill>
                  <a:srgbClr val="94A3B8"/>
                </a:solidFill>
              </a:rPr>
              <a:t> Frozen all live source mutations during target windows to dump/seed records with absolute zero loss parity.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Control Plane VNet Isolation:</a:t>
            </a:r>
            <a:r>
              <a:rPr>
                <a:solidFill>
                  <a:srgbClr val="94A3B8"/>
                </a:solidFill>
              </a:rPr>
              <a:t> Deployed internal self-hosted build agents straight within private VNet subnets to preserve workspace access.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CNI Skill Adjustments:</a:t>
            </a:r>
            <a:r>
              <a:rPr>
                <a:solidFill>
                  <a:srgbClr val="94A3B8"/>
                </a:solidFill>
              </a:rPr>
              <a:t> Offloaded complex operational tasks to integrated Hubble mapping interfaces to shorten operational team alignment cycles.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• Trivy Scan Pipeline Blockers:</a:t>
            </a:r>
            <a:r>
              <a:rPr>
                <a:solidFill>
                  <a:srgbClr val="94A3B8"/>
                </a:solidFill>
              </a:rPr>
              <a:t> Created dedicated suppression paths to whitelist verified internal legacy signatures safely without build stalls.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5255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3855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Core Technical Roadmap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Phase 2: GitOps Operations
</a:t>
            </a:r>
            <a:r>
              <a:rPr>
                <a:solidFill>
                  <a:srgbClr val="94A3B8"/>
                </a:solidFill>
              </a:rPr>
              <a:t> Transitioning out of traditional push pipelines into pure, self-healing declarative workflows managed by ArgoCD structures.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Phase 3: Mesh Encryption Systems
</a:t>
            </a:r>
            <a:r>
              <a:rPr>
                <a:solidFill>
                  <a:srgbClr val="94A3B8"/>
                </a:solidFill>
              </a:rPr>
              <a:t> Evaluating Istio or native Cilium Service Mesh extensions to handle strict pod-to-pod mutual TLS authentication protocols.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Phase 4: Cross-Region Traffic Controls
</a:t>
            </a:r>
            <a:r>
              <a:rPr>
                <a:solidFill>
                  <a:srgbClr val="94A3B8"/>
                </a:solidFill>
              </a:rPr>
              <a:t> Engineering automated high availability footprints across dual regions behind Azure Front Door Global Load Balancing tiers.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F8FAFC"/>
                </a:solidFill>
              </a:rPr>
              <a:t>Phase 5: Financial Operations Audits
</a:t>
            </a:r>
            <a:r>
              <a:rPr>
                <a:solidFill>
                  <a:srgbClr val="94A3B8"/>
                </a:solidFill>
              </a:rPr>
              <a:t> Integrating native Kubecost telemetry alongside custom Karpenter autoscaling logic to eradicate structural compute resource waste.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68851-C919-68CE-9B1A-16EE38C25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D4CEFB-27F1-3BF0-AE74-7C885BD49C4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9BAC4C-0385-8B1B-BCD7-1F37024826B0}"/>
              </a:ext>
            </a:extLst>
          </p:cNvPr>
          <p:cNvSpPr/>
          <p:nvPr/>
        </p:nvSpPr>
        <p:spPr>
          <a:xfrm>
            <a:off x="685800" y="1188720"/>
            <a:ext cx="1082009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1F140D-82B2-3C33-23A6-A96D1FD7B615}"/>
              </a:ext>
            </a:extLst>
          </p:cNvPr>
          <p:cNvSpPr/>
          <p:nvPr/>
        </p:nvSpPr>
        <p:spPr>
          <a:xfrm>
            <a:off x="4561189" y="2967335"/>
            <a:ext cx="30696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78871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1569</Words>
  <Application>Microsoft Macintosh PowerPoint</Application>
  <PresentationFormat>Widescreen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Satappa Shiragave</cp:lastModifiedBy>
  <cp:revision>4</cp:revision>
  <dcterms:created xsi:type="dcterms:W3CDTF">2013-01-27T09:14:16Z</dcterms:created>
  <dcterms:modified xsi:type="dcterms:W3CDTF">2026-06-06T10:22:48Z</dcterms:modified>
  <cp:category/>
</cp:coreProperties>
</file>